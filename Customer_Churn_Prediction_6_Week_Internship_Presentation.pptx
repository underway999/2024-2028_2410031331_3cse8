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6304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/>
            </a:pPr>
            <a:r>
              <a:t>Customer Churn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/>
            </a:pPr>
            <a:r>
              <a:t>Using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749039"/>
            <a:ext cx="97840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800"/>
            </a:pPr>
            <a:r>
              <a:t>Six-Week Internship Project Presentation</a:t>
            </a:r>
          </a:p>
          <a:p>
            <a:pPr algn="ctr">
              <a:spcAft>
                <a:spcPts val="800"/>
              </a:spcAft>
              <a:defRPr sz="1500"/>
            </a:pPr>
            <a:r>
              <a:t>Role: Machine Learning Engineer Intern</a:t>
            </a:r>
          </a:p>
          <a:p>
            <a:pPr algn="ctr">
              <a:spcAft>
                <a:spcPts val="800"/>
              </a:spcAft>
              <a:defRPr sz="1500"/>
            </a:pPr>
            <a:r>
              <a:t>Submitted by: Subrato Banerjee | IILM University, Greater Noida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Objective: predict whether a customer is likely to churn.</a:t>
            </a:r>
          </a:p>
          <a:p>
            <a:pPr>
              <a:spcAft>
                <a:spcPts val="800"/>
              </a:spcAft>
              <a:defRPr sz="1800"/>
            </a:pPr>
            <a:r>
              <a:t>Problem type: binary classification (0 = no churn, 1 = churn).</a:t>
            </a:r>
          </a:p>
          <a:p>
            <a:pPr>
              <a:spcAft>
                <a:spcPts val="800"/>
              </a:spcAft>
              <a:defRPr sz="1800"/>
            </a:pPr>
            <a:r>
              <a:t>Workflow: planning → preprocessing → feature engineering → implementation → evaluation → optimization.</a:t>
            </a:r>
          </a:p>
          <a:p>
            <a:pPr>
              <a:spcAft>
                <a:spcPts val="800"/>
              </a:spcAft>
              <a:defRPr sz="1800"/>
            </a:pPr>
            <a:r>
              <a:t>Focus: reliable, reproducible and leakage-safe Machine Learning workflow.</a:t>
            </a:r>
          </a:p>
          <a:p>
            <a:pPr>
              <a:spcAft>
                <a:spcPts val="800"/>
              </a:spcAft>
              <a:defRPr sz="1800"/>
            </a:pPr>
            <a:r>
              <a:t>Initial baseline: Logistic Regression.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Problem Statement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Identify customers who may churn.</a:t>
            </a:r>
          </a:p>
          <a:p>
            <a:pPr>
              <a:spcAft>
                <a:spcPts val="800"/>
              </a:spcAft>
              <a:defRPr sz="1800"/>
            </a:pPr>
            <a:r>
              <a:t>Prepare customer data for Machine Learning.</a:t>
            </a:r>
          </a:p>
          <a:p>
            <a:pPr>
              <a:spcAft>
                <a:spcPts val="800"/>
              </a:spcAft>
              <a:defRPr sz="1800"/>
            </a:pPr>
            <a:r>
              <a:t>Build and document a baseline classification model.</a:t>
            </a:r>
          </a:p>
          <a:p>
            <a:pPr>
              <a:spcAft>
                <a:spcPts val="800"/>
              </a:spcAft>
              <a:defRPr sz="1800"/>
            </a:pPr>
            <a:r>
              <a:t>Evaluate performance using multiple appropriate metrics.</a:t>
            </a:r>
          </a:p>
          <a:p>
            <a:pPr>
              <a:spcAft>
                <a:spcPts val="800"/>
              </a:spcAft>
              <a:defRPr sz="1800"/>
            </a:pPr>
            <a:r>
              <a:t>Optimize systematically while controlling overfitting and data leakage.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Python — primary programming language</a:t>
            </a:r>
          </a:p>
          <a:p>
            <a:pPr>
              <a:spcAft>
                <a:spcPts val="800"/>
              </a:spcAft>
              <a:defRPr sz="1600"/>
            </a:pPr>
            <a:r>
              <a:t>NumPy &amp; Pandas — numerical operations and data manipulation</a:t>
            </a:r>
          </a:p>
          <a:p>
            <a:pPr>
              <a:spcAft>
                <a:spcPts val="800"/>
              </a:spcAft>
              <a:defRPr sz="1600"/>
            </a:pPr>
            <a:r>
              <a:t>Matplotlib &amp; Seaborn — analysis and visualization</a:t>
            </a:r>
          </a:p>
          <a:p>
            <a:pPr>
              <a:spcAft>
                <a:spcPts val="800"/>
              </a:spcAft>
              <a:defRPr sz="1600"/>
            </a:pPr>
            <a:r>
              <a:t>Scikit-learn — preprocessing, modeling, validation and evaluation</a:t>
            </a:r>
          </a:p>
          <a:p>
            <a:pPr>
              <a:spcAft>
                <a:spcPts val="800"/>
              </a:spcAft>
              <a:defRPr sz="1600"/>
            </a:pPr>
            <a:r>
              <a:t>XGBoost — candidate advanced model</a:t>
            </a:r>
          </a:p>
          <a:p>
            <a:pPr>
              <a:spcAft>
                <a:spcPts val="800"/>
              </a:spcAft>
              <a:defRPr sz="1600"/>
            </a:pPr>
            <a:r>
              <a:t>Jupyter / VS Code — development</a:t>
            </a:r>
          </a:p>
          <a:p>
            <a:pPr>
              <a:spcAft>
                <a:spcPts val="800"/>
              </a:spcAft>
              <a:defRPr sz="1600"/>
            </a:pPr>
            <a:r>
              <a:t>Git &amp; GitHub — version control</a:t>
            </a:r>
          </a:p>
          <a:p>
            <a:pPr>
              <a:spcAft>
                <a:spcPts val="800"/>
              </a:spcAft>
              <a:defRPr sz="1600"/>
            </a:pPr>
            <a:r>
              <a:t>Joblib, FastAPI, Uvicorn &amp; Docker — future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End-to-End Project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1. Business problem definition</a:t>
            </a:r>
          </a:p>
          <a:p>
            <a:pPr>
              <a:spcAft>
                <a:spcPts val="800"/>
              </a:spcAft>
              <a:defRPr sz="1800"/>
            </a:pPr>
            <a:r>
              <a:t>2. Data collection and validation</a:t>
            </a:r>
          </a:p>
          <a:p>
            <a:pPr>
              <a:spcAft>
                <a:spcPts val="800"/>
              </a:spcAft>
              <a:defRPr sz="1800"/>
            </a:pPr>
            <a:r>
              <a:t>3. Data cleaning and preprocessing</a:t>
            </a:r>
          </a:p>
          <a:p>
            <a:pPr>
              <a:spcAft>
                <a:spcPts val="800"/>
              </a:spcAft>
              <a:defRPr sz="1800"/>
            </a:pPr>
            <a:r>
              <a:t>4. Exploratory Data Analysis</a:t>
            </a:r>
          </a:p>
          <a:p>
            <a:pPr>
              <a:spcAft>
                <a:spcPts val="800"/>
              </a:spcAft>
              <a:defRPr sz="1800"/>
            </a:pPr>
            <a:r>
              <a:t>5. Feature engineering and selection</a:t>
            </a:r>
          </a:p>
          <a:p>
            <a:pPr>
              <a:spcAft>
                <a:spcPts val="800"/>
              </a:spcAft>
              <a:defRPr sz="1800"/>
            </a:pPr>
            <a:r>
              <a:t>6. Train-test split and leakage prevention</a:t>
            </a:r>
          </a:p>
          <a:p>
            <a:pPr>
              <a:spcAft>
                <a:spcPts val="800"/>
              </a:spcAft>
              <a:defRPr sz="1800"/>
            </a:pPr>
            <a:r>
              <a:t>7. Model development and evaluation</a:t>
            </a:r>
          </a:p>
          <a:p>
            <a:pPr>
              <a:spcAft>
                <a:spcPts val="800"/>
              </a:spcAft>
              <a:defRPr sz="1800"/>
            </a:pPr>
            <a:r>
              <a:t>8. Hyper-parameter optimization</a:t>
            </a:r>
          </a:p>
          <a:p>
            <a:pPr>
              <a:spcAft>
                <a:spcPts val="800"/>
              </a:spcAft>
              <a:defRPr sz="1800"/>
            </a:pPr>
            <a:r>
              <a:t>9. Final model selection</a:t>
            </a:r>
          </a:p>
          <a:p>
            <a:pPr>
              <a:spcAft>
                <a:spcPts val="800"/>
              </a:spcAft>
              <a:defRPr sz="1800"/>
            </a:pPr>
            <a:r>
              <a:t>10. Future deployment and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Week 2 — Data Preprocessing &amp; 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Assess data types, missing values, duplicates and unusual observations.</a:t>
            </a:r>
          </a:p>
          <a:p>
            <a:pPr>
              <a:spcAft>
                <a:spcPts val="800"/>
              </a:spcAft>
              <a:defRPr sz="1800"/>
            </a:pPr>
            <a:r>
              <a:t>Handle missing values with documented numerical/categorical strategies.</a:t>
            </a:r>
          </a:p>
          <a:p>
            <a:pPr>
              <a:spcAft>
                <a:spcPts val="800"/>
              </a:spcAft>
              <a:defRPr sz="1800"/>
            </a:pPr>
            <a:r>
              <a:t>Check duplicates, consistency and outliers.</a:t>
            </a:r>
          </a:p>
          <a:p>
            <a:pPr>
              <a:spcAft>
                <a:spcPts val="800"/>
              </a:spcAft>
              <a:defRPr sz="1800"/>
            </a:pPr>
            <a:r>
              <a:t>Use OneHotEncoder for categorical variables and StandardScaler for numerical features.</a:t>
            </a:r>
          </a:p>
          <a:p>
            <a:pPr>
              <a:spcAft>
                <a:spcPts val="800"/>
              </a:spcAft>
              <a:defRPr sz="1800"/>
            </a:pPr>
            <a:r>
              <a:t>Consider feature selection and PCA where appropriate.</a:t>
            </a:r>
          </a:p>
          <a:p>
            <a:pPr>
              <a:spcAft>
                <a:spcPts val="800"/>
              </a:spcAft>
              <a:defRPr sz="1800"/>
            </a:pPr>
            <a:r>
              <a:t>Keep transformations inside Pipeline / ColumnTransformer.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Week 3 — Model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Logistic Regression selected as the initial baseline.</a:t>
            </a:r>
          </a:p>
          <a:p>
            <a:pPr>
              <a:spcAft>
                <a:spcPts val="800"/>
              </a:spcAft>
              <a:defRPr sz="1800"/>
            </a:pPr>
            <a:r>
              <a:t>Suitable for binary classification, efficient, interpretable and probability-based.</a:t>
            </a:r>
          </a:p>
          <a:p>
            <a:pPr>
              <a:spcAft>
                <a:spcPts val="800"/>
              </a:spcAft>
              <a:defRPr sz="1800"/>
            </a:pPr>
            <a:r>
              <a:t>Pipeline combines preprocessing and classifier.</a:t>
            </a:r>
          </a:p>
          <a:p>
            <a:pPr>
              <a:spcAft>
                <a:spcPts val="800"/>
              </a:spcAft>
              <a:defRPr sz="1800"/>
            </a:pPr>
            <a:r>
              <a:t>ColumnTransformer handles numerical and categorical feature groups.</a:t>
            </a:r>
          </a:p>
          <a:p>
            <a:pPr>
              <a:spcAft>
                <a:spcPts val="800"/>
              </a:spcAft>
              <a:defRPr sz="1800"/>
            </a:pPr>
            <a:r>
              <a:t>Workflow: load → prepare target → split → preprocess → train → predict → evaluate.</a:t>
            </a:r>
          </a:p>
          <a:p>
            <a:pPr>
              <a:spcAft>
                <a:spcPts val="800"/>
              </a:spcAft>
              <a:defRPr sz="1800"/>
            </a:pPr>
            <a:r>
              <a:t>Reusable functions, documentation, assertions and error handling were included.</a:t>
            </a:r>
          </a:p>
          <a:p>
            <a:pPr>
              <a:spcAft>
                <a:spcPts val="800"/>
              </a:spcAft>
              <a:defRPr sz="1800"/>
            </a:pPr>
            <a:r>
              <a:t>Actual performance values should be recorded after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Week 4 — Model Evaluation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Accuracy — overall correctness.</a:t>
            </a:r>
          </a:p>
          <a:p>
            <a:pPr>
              <a:spcAft>
                <a:spcPts val="800"/>
              </a:spcAft>
              <a:defRPr sz="1800"/>
            </a:pPr>
            <a:r>
              <a:t>Precision — reliability of churn-positive predictions.</a:t>
            </a:r>
          </a:p>
          <a:p>
            <a:pPr>
              <a:spcAft>
                <a:spcPts val="800"/>
              </a:spcAft>
              <a:defRPr sz="1800"/>
            </a:pPr>
            <a:r>
              <a:t>Recall — ability to identify actual churners.</a:t>
            </a:r>
          </a:p>
          <a:p>
            <a:pPr>
              <a:spcAft>
                <a:spcPts val="800"/>
              </a:spcAft>
              <a:defRPr sz="1800"/>
            </a:pPr>
            <a:r>
              <a:t>F1-score — balance of precision and recall.</a:t>
            </a:r>
          </a:p>
          <a:p>
            <a:pPr>
              <a:spcAft>
                <a:spcPts val="800"/>
              </a:spcAft>
              <a:defRPr sz="1800"/>
            </a:pPr>
            <a:r>
              <a:t>ROC-AUC — ranking performance across thresholds.</a:t>
            </a:r>
          </a:p>
          <a:p>
            <a:pPr>
              <a:spcAft>
                <a:spcPts val="800"/>
              </a:spcAft>
              <a:defRPr sz="1800"/>
            </a:pPr>
            <a:r>
              <a:t>Confusion matrix — TP, TN, FP and FN.</a:t>
            </a:r>
          </a:p>
          <a:p>
            <a:pPr>
              <a:spcAft>
                <a:spcPts val="800"/>
              </a:spcAft>
              <a:defRPr sz="1800"/>
            </a:pPr>
            <a:r>
              <a:t>Use stratified train-test splitting and Stratified K-Fold cross-validation.</a:t>
            </a:r>
          </a:p>
          <a:p>
            <a:pPr>
              <a:spcAft>
                <a:spcPts val="800"/>
              </a:spcAft>
              <a:defRPr sz="1800"/>
            </a:pPr>
            <a:r>
              <a:t>Keep the final test set isolated.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Error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Inspect false positives and false negatives separately.</a:t>
            </a:r>
          </a:p>
          <a:p>
            <a:pPr>
              <a:spcAft>
                <a:spcPts val="800"/>
              </a:spcAft>
              <a:defRPr sz="1800"/>
            </a:pPr>
            <a:r>
              <a:t>Compare misclassified customers with feature values and predicted probabilities.</a:t>
            </a:r>
          </a:p>
          <a:p>
            <a:pPr>
              <a:spcAft>
                <a:spcPts val="800"/>
              </a:spcAft>
              <a:defRPr sz="1800"/>
            </a:pPr>
            <a:r>
              <a:t>Use Scikit-learn confusion matrices and classification reports.</a:t>
            </a:r>
          </a:p>
          <a:p>
            <a:pPr>
              <a:spcAft>
                <a:spcPts val="800"/>
              </a:spcAft>
              <a:defRPr sz="1800"/>
            </a:pPr>
            <a:r>
              <a:t>Study threshold changes to understand the precision–recall trade-off.</a:t>
            </a:r>
          </a:p>
          <a:p>
            <a:pPr>
              <a:spcAft>
                <a:spcPts val="800"/>
              </a:spcAft>
              <a:defRPr sz="1800"/>
            </a:pPr>
            <a:r>
              <a:t>Learning and validation curves can help diagnose overfitting or underfitting.</a:t>
            </a:r>
          </a:p>
          <a:p>
            <a:pPr>
              <a:spcAft>
                <a:spcPts val="800"/>
              </a:spcAft>
              <a:defRPr sz="1800"/>
            </a:pPr>
            <a:r>
              <a:t>Translate technical errors into business-relevant retention implications.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Week 5 — Model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Grid Search — systematic but potentially expensive.</a:t>
            </a:r>
          </a:p>
          <a:p>
            <a:pPr>
              <a:spcAft>
                <a:spcPts val="800"/>
              </a:spcAft>
              <a:defRPr sz="1800"/>
            </a:pPr>
            <a:r>
              <a:t>Random Search — efficient exploration of larger parameter spaces.</a:t>
            </a:r>
          </a:p>
          <a:p>
            <a:pPr>
              <a:spcAft>
                <a:spcPts val="800"/>
              </a:spcAft>
              <a:defRPr sz="1800"/>
            </a:pPr>
            <a:r>
              <a:t>Bayesian Optimization — uses previous trials to guide promising configurations.</a:t>
            </a:r>
          </a:p>
          <a:p>
            <a:pPr>
              <a:spcAft>
                <a:spcPts val="800"/>
              </a:spcAft>
              <a:defRPr sz="1800"/>
            </a:pPr>
            <a:r>
              <a:t>Example parameters: C, solver, class_weight and classification threshold.</a:t>
            </a:r>
          </a:p>
          <a:p>
            <a:pPr>
              <a:spcAft>
                <a:spcPts val="800"/>
              </a:spcAft>
              <a:defRPr sz="1800"/>
            </a:pPr>
            <a:r>
              <a:t>Use the same validation strategy and primary metric for fair comparison.</a:t>
            </a:r>
          </a:p>
          <a:p>
            <a:pPr>
              <a:spcAft>
                <a:spcPts val="800"/>
              </a:spcAft>
              <a:defRPr sz="1800"/>
            </a:pPr>
            <a:r>
              <a:t>Record parameters, scores, variation, experiment ID and code version.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Experimentation &amp; Reproducibility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Define the research question and primary metric before experimentation.</a:t>
            </a:r>
          </a:p>
          <a:p>
            <a:pPr>
              <a:spcAft>
                <a:spcPts val="800"/>
              </a:spcAft>
              <a:defRPr sz="1800"/>
            </a:pPr>
            <a:r>
              <a:t>Keep dataset version, preprocessing and validation strategy consistent.</a:t>
            </a:r>
          </a:p>
          <a:p>
            <a:pPr>
              <a:spcAft>
                <a:spcPts val="800"/>
              </a:spcAft>
              <a:defRPr sz="1800"/>
            </a:pPr>
            <a:r>
              <a:t>Use cross-validation for model and hyper-parameter selection.</a:t>
            </a:r>
          </a:p>
          <a:p>
            <a:pPr>
              <a:spcAft>
                <a:spcPts val="800"/>
              </a:spcAft>
              <a:defRPr sz="1800"/>
            </a:pPr>
            <a:r>
              <a:t>Do not repeatedly tune against the held-out test set.</a:t>
            </a:r>
          </a:p>
          <a:p>
            <a:pPr>
              <a:spcAft>
                <a:spcPts val="800"/>
              </a:spcAft>
              <a:defRPr sz="1800"/>
            </a:pPr>
            <a:r>
              <a:t>Track experiments with structured records and Git commits.</a:t>
            </a:r>
          </a:p>
          <a:p>
            <a:pPr>
              <a:spcAft>
                <a:spcPts val="800"/>
              </a:spcAft>
              <a:defRPr sz="1800"/>
            </a:pPr>
            <a:r>
              <a:t>Fix random states where practical.</a:t>
            </a:r>
          </a:p>
          <a:p>
            <a:pPr>
              <a:spcAft>
                <a:spcPts val="800"/>
              </a:spcAft>
              <a:defRPr sz="1800"/>
            </a:pPr>
            <a:r>
              <a:t>Document convergence warnings, runtime issues and troubleshooting.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Week 6 — Comprehensive Project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Integrates planning, preprocessing, feature engineering, implementation, evaluation and optimization.</a:t>
            </a:r>
          </a:p>
          <a:p>
            <a:pPr>
              <a:spcAft>
                <a:spcPts val="800"/>
              </a:spcAft>
              <a:defRPr sz="1800"/>
            </a:pPr>
            <a:r>
              <a:t>Connects each technical stage to the churn-prediction objective.</a:t>
            </a:r>
          </a:p>
          <a:p>
            <a:pPr>
              <a:spcAft>
                <a:spcPts val="800"/>
              </a:spcAft>
              <a:defRPr sz="1800"/>
            </a:pPr>
            <a:r>
              <a:t>Summarizes lessons learned and technical challenges.</a:t>
            </a:r>
          </a:p>
          <a:p>
            <a:pPr>
              <a:spcAft>
                <a:spcPts val="800"/>
              </a:spcAft>
              <a:defRPr sz="1800"/>
            </a:pPr>
            <a:r>
              <a:t>Provides recommendations for model comparison, interpretability and deployment.</a:t>
            </a:r>
          </a:p>
          <a:p>
            <a:pPr>
              <a:spcAft>
                <a:spcPts val="800"/>
              </a:spcAft>
              <a:defRPr sz="1800"/>
            </a:pPr>
            <a:r>
              <a:t>Future deployment: serialized pipeline + FastAPI-based serving.</a:t>
            </a:r>
          </a:p>
          <a:p>
            <a:pPr>
              <a:spcAft>
                <a:spcPts val="800"/>
              </a:spcAft>
              <a:defRPr sz="1800"/>
            </a:pPr>
            <a:r>
              <a:t>Future monitoring: performance, data drift, prediction drift, API errors and latency.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Results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Measure baseline and optimized performance on the selected public dataset.</a:t>
            </a:r>
          </a:p>
          <a:p>
            <a:pPr>
              <a:spcAft>
                <a:spcPts val="800"/>
              </a:spcAft>
              <a:defRPr sz="1800"/>
            </a:pPr>
            <a:r>
              <a:t>Recommended metrics: Accuracy, Precision, Recall, F1-score and ROC-AUC.</a:t>
            </a:r>
          </a:p>
          <a:p>
            <a:pPr>
              <a:spcAft>
                <a:spcPts val="800"/>
              </a:spcAft>
              <a:defRPr sz="1800"/>
            </a:pPr>
            <a:r>
              <a:t>Report cross-validation mean and fold-to-fold variation.</a:t>
            </a:r>
          </a:p>
          <a:p>
            <a:pPr>
              <a:spcAft>
                <a:spcPts val="800"/>
              </a:spcAft>
              <a:defRPr sz="1800"/>
            </a:pPr>
            <a:r>
              <a:t>Use confusion matrices to inspect error types.</a:t>
            </a:r>
          </a:p>
          <a:p>
            <a:pPr>
              <a:spcAft>
                <a:spcPts val="800"/>
              </a:spcAft>
              <a:defRPr sz="1800"/>
            </a:pPr>
            <a:r>
              <a:t>Evaluate the final selected model once on the held-out test set.</a:t>
            </a:r>
          </a:p>
          <a:p>
            <a:pPr>
              <a:spcAft>
                <a:spcPts val="800"/>
              </a:spcAft>
              <a:defRPr sz="1800"/>
            </a:pPr>
            <a:r>
              <a:t>No hypothetical metric values are presented as actual experimental results.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Lessons Learned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Preprocessing is part of the model workflow.</a:t>
            </a:r>
          </a:p>
          <a:p>
            <a:pPr>
              <a:spcAft>
                <a:spcPts val="800"/>
              </a:spcAft>
              <a:defRPr sz="1800"/>
            </a:pPr>
            <a:r>
              <a:t>Data leakage can produce misleadingly strong results.</a:t>
            </a:r>
          </a:p>
          <a:p>
            <a:pPr>
              <a:spcAft>
                <a:spcPts val="800"/>
              </a:spcAft>
              <a:defRPr sz="1800"/>
            </a:pPr>
            <a:r>
              <a:t>Accuracy alone is insufficient for churn classification.</a:t>
            </a:r>
          </a:p>
          <a:p>
            <a:pPr>
              <a:spcAft>
                <a:spcPts val="800"/>
              </a:spcAft>
              <a:defRPr sz="1800"/>
            </a:pPr>
            <a:r>
              <a:t>Cross-validation gives a more robust view of model behavior.</a:t>
            </a:r>
          </a:p>
          <a:p>
            <a:pPr>
              <a:spcAft>
                <a:spcPts val="800"/>
              </a:spcAft>
              <a:defRPr sz="1800"/>
            </a:pPr>
            <a:r>
              <a:t>Systematic optimization is preferable to arbitrary trial-and-error.</a:t>
            </a:r>
          </a:p>
          <a:p>
            <a:pPr>
              <a:spcAft>
                <a:spcPts val="800"/>
              </a:spcAft>
              <a:defRPr sz="1800"/>
            </a:pPr>
            <a:r>
              <a:t>Future: Random Forest, Gradient Boosting and XGBoost comparison.</a:t>
            </a:r>
          </a:p>
          <a:p>
            <a:pPr>
              <a:spcAft>
                <a:spcPts val="800"/>
              </a:spcAft>
              <a:defRPr sz="1800"/>
            </a:pPr>
            <a:r>
              <a:t>Future: interpretability, calibration, API deployment and production monitoring.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Project Repository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customer-churn-prediction-ml/</a:t>
            </a:r>
          </a:p>
          <a:p>
            <a:pPr>
              <a:spcAft>
                <a:spcPts val="800"/>
              </a:spcAft>
              <a:defRPr sz="1800"/>
            </a:pPr>
            <a:r>
              <a:t>├── README.md</a:t>
            </a:r>
          </a:p>
          <a:p>
            <a:pPr>
              <a:spcAft>
                <a:spcPts val="800"/>
              </a:spcAft>
              <a:defRPr sz="1800"/>
            </a:pPr>
            <a:r>
              <a:t>├── data/</a:t>
            </a:r>
          </a:p>
          <a:p>
            <a:pPr>
              <a:spcAft>
                <a:spcPts val="800"/>
              </a:spcAft>
              <a:defRPr sz="1800"/>
            </a:pPr>
            <a:r>
              <a:t>├── notebooks/</a:t>
            </a:r>
          </a:p>
          <a:p>
            <a:pPr>
              <a:spcAft>
                <a:spcPts val="800"/>
              </a:spcAft>
              <a:defRPr sz="1800"/>
            </a:pPr>
            <a:r>
              <a:t>├── src/</a:t>
            </a:r>
          </a:p>
          <a:p>
            <a:pPr>
              <a:spcAft>
                <a:spcPts val="800"/>
              </a:spcAft>
              <a:defRPr sz="1800"/>
            </a:pPr>
            <a:r>
              <a:t>├── models/</a:t>
            </a:r>
          </a:p>
          <a:p>
            <a:pPr>
              <a:spcAft>
                <a:spcPts val="800"/>
              </a:spcAft>
              <a:defRPr sz="1800"/>
            </a:pPr>
            <a:r>
              <a:t>├── requirements.txt</a:t>
            </a:r>
          </a:p>
          <a:p>
            <a:pPr>
              <a:spcAft>
                <a:spcPts val="800"/>
              </a:spcAft>
              <a:defRPr sz="1800"/>
            </a:pPr>
            <a:r>
              <a:t>└── Customer_Churn_Prediction_ML_Complete_Internship_Report.docx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The six-week internship establishes an end-to-end Machine Learning workflow for customer churn prediction.</a:t>
            </a:r>
          </a:p>
          <a:p>
            <a:pPr>
              <a:spcAft>
                <a:spcPts val="800"/>
              </a:spcAft>
              <a:defRPr sz="1800"/>
            </a:pPr>
            <a:r>
              <a:t>Logistic Regression provides a documented and interpretable baseline.</a:t>
            </a:r>
          </a:p>
          <a:p>
            <a:pPr>
              <a:spcAft>
                <a:spcPts val="800"/>
              </a:spcAft>
              <a:defRPr sz="1800"/>
            </a:pPr>
            <a:r>
              <a:t>Preprocessing, validation and evaluation are designed to improve reliability.</a:t>
            </a:r>
          </a:p>
          <a:p>
            <a:pPr>
              <a:spcAft>
                <a:spcPts val="800"/>
              </a:spcAft>
              <a:defRPr sz="1800"/>
            </a:pPr>
            <a:r>
              <a:t>Optimization is structured as controlled and reproducible experimentation.</a:t>
            </a:r>
          </a:p>
          <a:p>
            <a:pPr>
              <a:spcAft>
                <a:spcPts val="800"/>
              </a:spcAft>
              <a:defRPr sz="1800"/>
            </a:pPr>
            <a:r>
              <a:t>The project provides a foundation for advanced models, deployment and monitoring.</a:t>
            </a:r>
          </a:p>
          <a:p>
            <a:pPr>
              <a:spcAft>
                <a:spcPts val="800"/>
              </a:spcAft>
              <a:defRPr sz="1800"/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